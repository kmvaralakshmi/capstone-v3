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791FF3-3D62-4070-9ACE-FB44B71AE59C}">
  <a:tblStyle styleId="{C8791FF3-3D62-4070-9ACE-FB44B71AE5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106a2e18_0_5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b106a2e1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fb106a2e18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ed5d7cbc_28_0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9ed5d7cbc_2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f9ed5d7cbc_2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ed5d7cbc_28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9ed5d7cbc_28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b085d5b1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fb085d5b1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ed1996b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f9ed1996b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fa53e77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f9fa53e77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fa53e77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f9fa53e779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fa53e779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f9fa53e779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fa53e779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f9fa53e779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9fa53e779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f9fa53e779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fa53e779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f9fa53e779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fa53e779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f9fa53e779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UE23AM441A  – Capstone Project Phase – 3</a:t>
            </a:r>
            <a:endParaRPr b="0" i="0" sz="2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Review # 1</a:t>
            </a:r>
            <a:endParaRPr b="0" i="0" sz="2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835550" y="2935050"/>
            <a:ext cx="9029700" cy="29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Explainable Multi-Agent ESG Risk Analysis System for Indian Companies  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PW25_MK_01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Dr. Manjula K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PES1UG24AM815--Varalakshmi K M</a:t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PES1UG24AM807--Malashree H K</a:t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PES1UG23AM232--Ranjan C</a:t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PES1UG23AM069--Aryan S</a:t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/>
        </p:nvSpPr>
        <p:spPr>
          <a:xfrm>
            <a:off x="1828800" y="1161650"/>
            <a:ext cx="8534400" cy="4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2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1429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1429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Inferences drawn from Literature Survey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11429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with Individual Contribution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completed modules</a:t>
            </a: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99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1060525" y="160696"/>
            <a:ext cx="52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200">
              <a:solidFill>
                <a:srgbClr val="888888"/>
              </a:solidFill>
            </a:endParaRPr>
          </a:p>
        </p:txBody>
      </p:sp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21" name="Google Shape;1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1095675" y="1768675"/>
            <a:ext cx="10003800" cy="4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rebuchet MS"/>
              <a:buChar char="▪"/>
            </a:pPr>
            <a:r>
              <a:rPr b="1"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</a:t>
            </a:r>
            <a:r>
              <a:rPr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 ESG assessment is increasingly important for investors and regulators, but existing systems often depend on self-reported company disclosures and provide limited transparency or independent verification, creating a risk of </a:t>
            </a: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greenwashing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rebuchet MS"/>
              <a:buChar char="▪"/>
            </a:pPr>
            <a:r>
              <a:rPr b="1"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</a:t>
            </a:r>
            <a:r>
              <a:rPr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 Develop an explainable ESG risk analysis system that combines company disclosures with independent environmental, news and financial data to </a:t>
            </a: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 ESG claims and identify inconsistencies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rebuchet MS"/>
              <a:buChar char="▪"/>
            </a:pPr>
            <a:r>
              <a:rPr b="1"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Approach</a:t>
            </a:r>
            <a:r>
              <a:rPr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 A sequential </a:t>
            </a: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seven-agent pipeline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extracts ESG information from BRSR reports, validates it using external data, performs cross-source analysis, detects potential greenwashing, and generates an explainable ESG assessment.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rebuchet MS"/>
              <a:buChar char="▪"/>
            </a:pPr>
            <a:r>
              <a:rPr b="1" lang="en-US" sz="16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FY 2024–25 BRSR reports of </a:t>
            </a: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50  IT companies</a:t>
            </a: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along with CPCB AQI data, ESG-related news and NIFTY 50 historical stock data.</a:t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044375" y="160699"/>
            <a:ext cx="54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200">
              <a:solidFill>
                <a:srgbClr val="888888"/>
              </a:solidFill>
            </a:endParaRPr>
          </a:p>
        </p:txBody>
      </p:sp>
      <p:sp>
        <p:nvSpPr>
          <p:cNvPr id="131" name="Google Shape;131;p1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1155375" y="1853050"/>
            <a:ext cx="4544100" cy="3865800"/>
          </a:xfrm>
          <a:prstGeom prst="rect">
            <a:avLst/>
          </a:prstGeom>
          <a:noFill/>
          <a:ln cap="flat" cmpd="sng" w="9525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Scope of This Review:</a:t>
            </a:r>
            <a:endParaRPr sz="2300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 Scope</a:t>
            </a:r>
            <a:endParaRPr sz="2000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BRSR extraction and ESG metric processing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AQI-based environmental validation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ESG news sentiment analysis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Financial correlation analysis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Greenwashing detection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ESG scoring and explainability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Five Indian IT companies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044375" y="160699"/>
            <a:ext cx="54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200">
              <a:solidFill>
                <a:srgbClr val="888888"/>
              </a:solidFill>
            </a:endParaRPr>
          </a:p>
        </p:txBody>
      </p:sp>
      <p:sp>
        <p:nvSpPr>
          <p:cNvPr id="142" name="Google Shape;142;p1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929275" y="1853050"/>
            <a:ext cx="4272300" cy="3678900"/>
          </a:xfrm>
          <a:prstGeom prst="rect">
            <a:avLst/>
          </a:prstGeom>
          <a:noFill/>
          <a:ln cap="flat" cmpd="sng" w="9525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Not Yet in Scope</a:t>
            </a:r>
            <a:endParaRPr sz="2000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Large-scale coverage of Indian companies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Real-time ESG dashboard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Social-media-based validation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Predictive/time-series ESG forecasting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▪ Additional governance verification sources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1153750" y="1606000"/>
            <a:ext cx="9742800" cy="4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750" lvl="0" marL="45720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</a:pPr>
            <a:r>
              <a:rPr b="1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Built</a:t>
            </a:r>
            <a:r>
              <a:rPr b="0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Designed and implemented a seven-agent pipeline (extraction, validation, greenwashing detection, scoring, and explainability) covering BRSR extraction, AQI/news/stock cross-validation, and human-readable ESG scoring.</a:t>
            </a:r>
            <a:endParaRPr sz="1600">
              <a:solidFill>
                <a:schemeClr val="dk1"/>
              </a:solidFill>
            </a:endParaRPr>
          </a:p>
          <a:p>
            <a:pPr indent="-412750" lvl="0" marL="45720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</a:pPr>
            <a:r>
              <a:rPr b="1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Scope Delivered</a:t>
            </a:r>
            <a:r>
              <a:rPr b="0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End-to-end system validated on 50 major Indian IT companies (TCS, Infosys, Wipro, HCL Technologies, Tech Mahindra) using FY 2024–25 BRSR data, producing 7 structured, auditable output datasets with full data lineage tracking.</a:t>
            </a:r>
            <a:endParaRPr sz="1600">
              <a:solidFill>
                <a:schemeClr val="dk1"/>
              </a:solidFill>
            </a:endParaRPr>
          </a:p>
          <a:p>
            <a:pPr indent="-412750" lvl="0" marL="45720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</a:pPr>
            <a:r>
              <a:rPr b="1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Greenwashing Detection</a:t>
            </a:r>
            <a:r>
              <a:rPr b="0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A statistically adaptive three-way cross-check (BRSR claim vs. AQI signal vs. news sentiment) flagged a high-severity contradiction at TCS — a 94% claimed renewable energy figure against a 2.0/10 measured environmental score.</a:t>
            </a:r>
            <a:endParaRPr sz="1600">
              <a:solidFill>
                <a:schemeClr val="dk1"/>
              </a:solidFill>
            </a:endParaRPr>
          </a:p>
          <a:p>
            <a:pPr indent="-412750" lvl="0" marL="45720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</a:pPr>
            <a:r>
              <a:rPr b="1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Achieved</a:t>
            </a:r>
            <a:r>
              <a:rPr b="0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Classification accuracy improved from 82% to 90% after cross-validation and bias correction. Infosys ranked highest (7.83/10, Low-Medium risk); Tech Mahindra ranked lowest (6.57/10). External benchmark rank correlation of 0.70.</a:t>
            </a:r>
            <a:endParaRPr sz="1600">
              <a:solidFill>
                <a:schemeClr val="dk1"/>
              </a:solidFill>
            </a:endParaRPr>
          </a:p>
          <a:p>
            <a:pPr indent="-412750" lvl="0" marL="457200" marR="0" rtl="0" algn="just">
              <a:lnSpc>
                <a:spcPct val="108000"/>
              </a:lnSpc>
              <a:spcBef>
                <a:spcPts val="1200"/>
              </a:spcBef>
              <a:spcAft>
                <a:spcPts val="300"/>
              </a:spcAft>
              <a:buClr>
                <a:schemeClr val="dk1"/>
              </a:buClr>
              <a:buSzPts val="1800"/>
              <a:buFont typeface="Trebuchet MS"/>
              <a:buChar char="▪"/>
            </a:pPr>
            <a:r>
              <a:rPr b="1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Panel Feedback Incorporated</a:t>
            </a:r>
            <a:r>
              <a:rPr b="0" i="0" lang="en-U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All seven agents integrated into a single scoring flow, score computation made fully auditable, and the sector-first (IT-only) scope was retained as advised; real-time news ingestion remains in progress.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0327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Explainable Multi-Agent ESG Risk Analysis System for Indian Companies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1245725" y="1700000"/>
            <a:ext cx="9879600" cy="4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just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▪"/>
            </a:pPr>
            <a:r>
              <a:rPr b="1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Survey Scope</a:t>
            </a:r>
            <a:r>
              <a:rPr b="0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20 peer-reviewed papers and technical reports reviewed across four themes — India-specific ESG/BRSR frameworks, ESG scoring methodologies, multi-agent systems in finance, and explainable AI in finance.</a:t>
            </a:r>
            <a:endParaRPr sz="15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▪"/>
            </a:pPr>
            <a:r>
              <a:rPr b="1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Self-Reported ESG Data is Unreliable</a:t>
            </a:r>
            <a:r>
              <a:rPr b="0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ESG rating-agency correlation averages only 0.54 (vs. 0.99 for credit ratings), motivating an independent, cross-validated scoring approach rather than relying on a single disclosure source.</a:t>
            </a:r>
            <a:endParaRPr sz="15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▪"/>
            </a:pPr>
            <a:r>
              <a:rPr b="1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BRSR Compliance is Often Minimal</a:t>
            </a:r>
            <a:r>
              <a:rPr b="0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Only 17.7% of companies made explicit Net Zero commitments and most comply minimally with disclosure norms, reinforcing the need for a dedicated greenwashing-detection agent.</a:t>
            </a:r>
            <a:endParaRPr sz="15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▪"/>
            </a:pPr>
            <a:r>
              <a:rPr b="1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Composite Scores Hide the Real Picture</a:t>
            </a:r>
            <a:r>
              <a:rPr b="0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Underlying sub-metrics carry more signal than a single aggregate score, and peer-normalization can distort rankings — supporting separate E/S/G pillars scored against absolute BRSR thresholds instead of one opaque number.</a:t>
            </a:r>
            <a:endParaRPr sz="15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▪"/>
            </a:pPr>
            <a:r>
              <a:rPr b="1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Multi-Agent Decomposition Outperforms Single-Agent Analysis</a:t>
            </a:r>
            <a:r>
              <a:rPr b="0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Configurable, specialized agent groups improve accuracy, efficiency, and adaptability for complex financial analysis — validating the project's seven-agent, loosely-coupled pipeline design.</a:t>
            </a:r>
            <a:endParaRPr sz="15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1700"/>
              <a:buFont typeface="Trebuchet MS"/>
              <a:buChar char="▪"/>
            </a:pPr>
            <a:r>
              <a:rPr b="1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Explainability Should Be Local, Not Global</a:t>
            </a:r>
            <a:r>
              <a:rPr b="0" i="0" lang="en-US" sz="13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— Finance-domain XAI research favors company-specific, evidence-backed justifications over model-wide explanations, shaping Agent 7 to generate individual reasoning per company.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Inferences from Literature Survey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0327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Explainable Multi-Agent ESG Risk Analysis System for Indian Companies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957550" y="1273896"/>
            <a:ext cx="9067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1.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957550" y="231075"/>
            <a:ext cx="59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3250" y="2012300"/>
            <a:ext cx="7575550" cy="41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979375" y="1332575"/>
            <a:ext cx="906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1.M</a:t>
            </a:r>
            <a:r>
              <a:rPr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odules</a:t>
            </a:r>
            <a:endParaRPr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57550" y="231075"/>
            <a:ext cx="59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48400" y="2437950"/>
            <a:ext cx="610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32950" y="2114225"/>
            <a:ext cx="610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-396875" y="3447150"/>
            <a:ext cx="610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748400" y="2024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{C8791FF3-3D62-4070-9ACE-FB44B71AE59C}</a:tableStyleId>
              </a:tblPr>
              <a:tblGrid>
                <a:gridCol w="2591275"/>
                <a:gridCol w="3038475"/>
                <a:gridCol w="4588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/ Module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Technique Used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Main Function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Frontend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HTML5 + CSS3 + JavaScript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Provides web dashboard and user interface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Backend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Python + FastAPI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Provides backend services and REST APIs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Pipeline Orchestration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88038"/>
                          </a:solidFill>
                        </a:rPr>
                        <a:t>demo.py</a:t>
                      </a:r>
                      <a:r>
                        <a:rPr b="1" lang="en-US" sz="1100"/>
                        <a:t> + Subprocess + Multithreading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Executes and coordinates Agent 1–7 pipeline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1 – BRSR Metric Extraction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PDF extraction + keyword/rule-based matching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Extracts ESG metrics from company BRSR reports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2 – Environmental Risk Mapping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Location matching + AQI threshold rules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Assesses environmental risk based on company locations and AQI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3 – ESG News Sentiment Analysis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ESG keyword rules + VADER sentiment analysis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Filters ESG-related news and determines sentiment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9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20"/>
          <p:cNvSpPr txBox="1"/>
          <p:nvPr/>
        </p:nvSpPr>
        <p:spPr>
          <a:xfrm>
            <a:off x="2460625" y="2279200"/>
            <a:ext cx="610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957550" y="995812"/>
            <a:ext cx="906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2.M</a:t>
            </a:r>
            <a:r>
              <a:rPr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odules</a:t>
            </a:r>
            <a:endParaRPr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957550" y="231075"/>
            <a:ext cx="59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748400" y="2437950"/>
            <a:ext cx="610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21"/>
          <p:cNvGraphicFramePr/>
          <p:nvPr/>
        </p:nvGraphicFramePr>
        <p:xfrm>
          <a:off x="680375" y="169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{C8791FF3-3D62-4070-9ACE-FB44B71AE59C}</a:tableStyleId>
              </a:tblPr>
              <a:tblGrid>
                <a:gridCol w="2793200"/>
                <a:gridCol w="2573800"/>
                <a:gridCol w="4675050"/>
              </a:tblGrid>
              <a:tr h="41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/ Module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Technique Used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Main Function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4 – Stock–ESG Correlation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Statistical analysis + scoring rules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Analyzes stock performance and its relationship with ESG indicators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5 – Greenwashing &amp; Trust Risk Detection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Rule-based claim/evidence comparison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Identifies potential inconsistencies and greenwashing risks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6 – Master ESG Scoring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Weighted/rule-based score aggregation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Combines outputs from different agents to generate the overall ESG score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Agent 7 – Explainability Generator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Rule/template-based explanation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Converts ESG scores and risk factors into understandable company-level explanations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Utility Layer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PDF extraction + data validation + data lineage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Supports document processing and data quality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Data Storage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CSV + JSON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Stores agent outputs and final reports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1563675" y="1242475"/>
            <a:ext cx="9582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to be elaborated in discussion with the guide.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887525" y="176836"/>
            <a:ext cx="58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563675" y="1968650"/>
            <a:ext cx="85089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1. Data collection and preparation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2. BRSR PDF download, validation, and extraction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3. Environmental and location-based risk analysis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4. ESG news filtering and sentiment analysis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5. Stock market performance and ESG correlation analysis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6. Greenwashing and contradiction detection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7. Master ESG score calculation and quality assessment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8. Explainable AI report generation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9. Cross-validation and data-quality reporting 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10. Testing, validation, and performance evaluation  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Technologies Used:</a:t>
            </a: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 Python, Pandas, FastAPI, HTML, CSS, JavaScript, CSV/JSON, BRSR reports, AQI datasets, ESG news data, and stock-market datasets.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887525" y="176836"/>
            <a:ext cx="58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451825" y="1477125"/>
            <a:ext cx="5644200" cy="3848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BRSR Data Collection and Preparation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1. Data Collection &amp; Data Preparation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BRSR reports for the configured 50-company cohort were collected from official company, NSE, and BSE sources. Reports were checked for company identity, reporting year, PDF validity, and duplicate files.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2. Data Input 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Validated FY 2024-25 BRSR PDFs were used as the primary input. Each report contains environmental, social, and governance disclosures.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3. Data Pre-processing 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Text was extracted from PDFs and mapped to standardized ESG metrics. Missing, undisclosed, invalid, and low-confidence values were flagged for review.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348800" y="1477125"/>
            <a:ext cx="5272800" cy="3201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4. Data Visualization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Extracted metrics are presented through CSV reports and the web dashboard using company-level ESG summaries and completeness indicators.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5. Data Interpretation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The extracted information is used to evaluate energy consumption, emissions, water usage, employee welfare, governance, and other ESG indicators.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6. Storage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Source PDFs are stored in `brsr-pdfs`. Extracted metrics and data-quality reports are stored in `processed-data` and `demo-output`.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887525" y="176836"/>
            <a:ext cx="58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74200" y="1612650"/>
            <a:ext cx="5521800" cy="36633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 Multi-Agent ESG Analysis and Scoring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1. Data Collection &amp; Data Preparation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BRSR metrics, AQI and location data, ESG news articles, and historical stock-market data were collected and aligned using company codes and reporting dates.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2. Data Input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The seven agents receive validated CSV datasets and extracted BRSR metrics as input for environmental, social, governance, sentiment, market, and quality analysis.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3. Data Pre-processing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News articles are filtered for ESG relevance, numerical values are normalized, missing records are identified, and company-level datasets are prepared for analysis.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6284250" y="1477125"/>
            <a:ext cx="4691700" cy="3848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4. Data Visualization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The frontend dashboard displays company profiles, ESG scores, risk levels, news sentiment, environmental risk, stock correlation, and data-quality results.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5. Data Interpretation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Agent 6 calculates the master ESG score, while Agent 7 generates explanations. Cross-validation and greenwashing checks identify contradictions and review requirements.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6. Storage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Final outputs are stored as CSV and JSON files, including `esg_master_scores.csv`, `greenwashing_detection.csv`, `multi_agent_explanations.csv`, and `run_metadata.json`.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44" name="Google Shape;2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9575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608400" y="1754650"/>
            <a:ext cx="5487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Demonstrated Modules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BRSR Extraction: Extracted ESG metrics from company reports.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Environmental Risk Analysis: Calculated location-based AQI and environmental risk.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News Sentiment Analysis:Classified ESG-related news as positive or negative.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Stock Correlation: Compared ESG scores with stock-market performance.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Greenwashing Detection: Identified suspicious or contradictory ESG claims.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 Master ESG Scoring: Generated company-level Environmental, Social, Governance, and overall ESG scores.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 Explainable AI: Generated explanations for scores, risks, and review flags.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 Dashboard: Displayed companies, scores, risk levels, sentiment, and data-quality results.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6543600" y="1935900"/>
            <a:ext cx="4353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Results Obtained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- 50  company score records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- 900 extracted BRSR metric records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- 677  ESG news sentiment records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- 91 stock-analysis records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- 83 environmental/location-risk records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Average master ESG score: 6.17/10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Average BRSR completeness: 40.22%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- 4 companies passed the quality gate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- 46 companies received low-quality warnings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- Cross-validation identified 2 high-severity and 6 medium-severity  contradiction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55" name="Google Shape;2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9575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693875" y="1563538"/>
            <a:ext cx="8781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Testing of Completed Modules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### Testing Performed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1. Verified that the configuration contains **50 companies**.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2. Checked BRSR PDFs for valid file format, company identity, reporting period, and duplicates.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3. Verified that the seven agents execute in the correct sequence.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4. Tested missing, undisclosed, and incomplete BRSR values.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5. Checked that ESG scores and risk levels are generated correctly.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6. Tested news filtering and sentiment classification.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7. Tested contradiction and greenwashing detection.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8. Verified CSV and JSON output generation.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9. Tested backend API endpoints and dashboard data loading.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10. Performed cross-validation and data-quality checks.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Testing Outcome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pipeline generated the expected output files for the 50-company configuration. Companies with incomplete or unavailable source data were retained as review records instead of being silently removed. The quality-gate process correctly classified records as either **Pass** or **Low-Quality Warning**.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/>
        </p:nvSpPr>
        <p:spPr>
          <a:xfrm>
            <a:off x="9575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9475" y="1668500"/>
            <a:ext cx="8064275" cy="4063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75" name="Google Shape;2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9575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7550" y="1540125"/>
            <a:ext cx="7551426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85" name="Google Shape;2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/>
        </p:nvSpPr>
        <p:spPr>
          <a:xfrm>
            <a:off x="9575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050" y="1666925"/>
            <a:ext cx="9205500" cy="45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295" name="Google Shape;29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/>
        </p:nvSpPr>
        <p:spPr>
          <a:xfrm>
            <a:off x="957550" y="160700"/>
            <a:ext cx="52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1275" y="1741275"/>
            <a:ext cx="7915425" cy="4265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</a:rPr>
              <a:t>Varalakshmi_Malashree_Ranjan_Aryan</a:t>
            </a:r>
            <a:endParaRPr/>
          </a:p>
        </p:txBody>
      </p:sp>
      <p:pic>
        <p:nvPicPr>
          <p:cNvPr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49" y="160691"/>
            <a:ext cx="762000" cy="78581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 txBox="1"/>
          <p:nvPr/>
        </p:nvSpPr>
        <p:spPr>
          <a:xfrm>
            <a:off x="800100" y="160700"/>
            <a:ext cx="529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Explainable Multi-Agent ESG Risk Analysis System for Indian Companies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1194100" y="1784438"/>
            <a:ext cx="8394300" cy="3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[1] A. Berg, K. Fabisik, and Z. Sautner, “Chasing ESG performance: How methodologies shape ESG scores,” </a:t>
            </a:r>
            <a:r>
              <a:rPr i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Journal of Financial Economics</a:t>
            </a: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2025.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[2] S. Riedl and M. Smeets, “Evaluation of environmental, social, and governance risks: A critical literature review,” </a:t>
            </a:r>
            <a:r>
              <a:rPr i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Sustainability</a:t>
            </a: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vol. 17, no. 18, 2024.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[3] J. Escrig-Olmedo et al., “The use of ESG scores in academic literature: A systematic literature review,” </a:t>
            </a:r>
            <a:r>
              <a:rPr i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Strategy and the Environment</a:t>
            </a: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2023.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[4] L. Dorfleitner, R. Halbritter, and M. Nguyen, “Deconstructing ESG scores: Investing at the category score level,” </a:t>
            </a:r>
            <a:r>
              <a:rPr i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Journal of Asset Management</a:t>
            </a: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2024.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[5] H. Liu et al., “Creating a systematic ESG scoring system using social network analysis and machine learning,” </a:t>
            </a:r>
            <a:r>
              <a:rPr i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arXiv:2309.05607</a:t>
            </a: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2023.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/>
          <p:nvPr/>
        </p:nvSpPr>
        <p:spPr>
          <a:xfrm>
            <a:off x="3531752" y="2856542"/>
            <a:ext cx="4532595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1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