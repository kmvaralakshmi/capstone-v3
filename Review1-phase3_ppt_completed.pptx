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5" roundtripDataSignature="AMtx7mjb24/3oXfEol3mrTMEca2WFcYD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-264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5" Type="http://customschemas.google.com/relationships/presentationmetadata" Target="metadata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alibri"/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785cdd001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g3785cdd0013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" name="Google Shape;104;g3785cdd0013_0_0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Title of the Project</a:t>
            </a:r>
            <a:endParaRPr/>
          </a:p>
        </p:txBody>
      </p:sp>
      <p:sp>
        <p:nvSpPr>
          <p:cNvPr id="105" name="Google Shape;105;g3785cdd0013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785cdd0013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g3785cdd0013_0_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3" name="Google Shape;113;g3785cdd0013_0_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785cdd0013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g3785cdd0013_0_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3" name="Google Shape;123;g3785cdd0013_0_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785cdd0013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3785cdd0013_0_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3" name="Google Shape;133;g3785cdd0013_0_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785cdd0013_0_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2" name="Google Shape;142;g3785cdd0013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785cdd0013_0_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1" name="Google Shape;151;g3785cdd0013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85cdd0013_0_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0" name="Google Shape;160;g3785cdd0013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785cdd0013_0_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9" name="Google Shape;169;g3785cdd0013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785cdd0013_0_7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8" name="Google Shape;178;g3785cdd0013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785cdd0013_0_8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7" name="Google Shape;187;g3785cdd0013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4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5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5"/>
          <p:cNvSpPr txBox="1"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5"/>
          <p:cNvSpPr txBox="1"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cxnSp>
        <p:nvCxnSpPr>
          <p:cNvPr id="32" name="Google Shape;32;p15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36" name="Google Shape;36;p16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6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7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7"/>
          <p:cNvSpPr txBox="1"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 b="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cxnSp>
        <p:nvCxnSpPr>
          <p:cNvPr id="47" name="Google Shape;47;p17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8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8"/>
          <p:cNvSpPr txBox="1">
            <a:spLocks noGrp="1"/>
          </p:cNvSpPr>
          <p:nvPr>
            <p:ph type="body" idx="1"/>
          </p:nvPr>
        </p:nvSpPr>
        <p:spPr>
          <a:xfrm>
            <a:off x="1097279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body" idx="2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9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body" idx="2"/>
          </p:nvPr>
        </p:nvSpPr>
        <p:spPr>
          <a:xfrm>
            <a:off x="109728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body" idx="3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body" idx="4"/>
          </p:nvPr>
        </p:nvSpPr>
        <p:spPr>
          <a:xfrm>
            <a:off x="621792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61" name="Google Shape;61;p19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9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0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1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1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1"/>
          <p:cNvSpPr txBox="1"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body" idx="1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74" name="Google Shape;74;p21"/>
          <p:cNvSpPr txBox="1">
            <a:spLocks noGrp="1"/>
          </p:cNvSpPr>
          <p:nvPr>
            <p:ph type="body" idx="2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5" name="Google Shape;75;p21"/>
          <p:cNvSpPr txBox="1">
            <a:spLocks noGrp="1"/>
          </p:cNvSpPr>
          <p:nvPr>
            <p:ph type="dt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ftr" idx="11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22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22"/>
          <p:cNvSpPr txBox="1"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2"/>
          <p:cNvSpPr>
            <a:spLocks noGrp="1"/>
          </p:cNvSpPr>
          <p:nvPr>
            <p:ph type="pic" idx="2"/>
          </p:nvPr>
        </p:nvSpPr>
        <p:spPr>
          <a:xfrm>
            <a:off x="15" y="0"/>
            <a:ext cx="12191985" cy="4915076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22"/>
          <p:cNvSpPr txBox="1">
            <a:spLocks noGrp="1"/>
          </p:cNvSpPr>
          <p:nvPr>
            <p:ph type="body" idx="1"/>
          </p:nvPr>
        </p:nvSpPr>
        <p:spPr>
          <a:xfrm>
            <a:off x="1097280" y="5907023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4" name="Google Shape;84;p2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3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3"/>
          <p:cNvSpPr txBox="1">
            <a:spLocks noGrp="1"/>
          </p:cNvSpPr>
          <p:nvPr>
            <p:ph type="body" idx="1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90" name="Google Shape;90;p23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3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4"/>
          <p:cNvSpPr txBox="1">
            <a:spLocks noGrp="1"/>
          </p:cNvSpPr>
          <p:nvPr>
            <p:ph type="title"/>
          </p:nvPr>
        </p:nvSpPr>
        <p:spPr>
          <a:xfrm rot="5400000">
            <a:off x="7160640" y="1979039"/>
            <a:ext cx="5757421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4"/>
          <p:cNvSpPr txBox="1">
            <a:spLocks noGrp="1"/>
          </p:cNvSpPr>
          <p:nvPr>
            <p:ph type="body" idx="1"/>
          </p:nvPr>
        </p:nvSpPr>
        <p:spPr>
          <a:xfrm rot="5400000">
            <a:off x="1826639" y="-573661"/>
            <a:ext cx="5757422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98" name="Google Shape;98;p24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4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3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3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13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1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cxnSp>
        <p:nvCxnSpPr>
          <p:cNvPr id="17" name="Google Shape;17;p13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785cdd0013_0_0"/>
          <p:cNvSpPr/>
          <p:nvPr/>
        </p:nvSpPr>
        <p:spPr>
          <a:xfrm>
            <a:off x="2387991" y="990600"/>
            <a:ext cx="7924800" cy="13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spcAft>
                <a:spcPts val="800"/>
              </a:spcAft>
              <a:buSzPts val="2800"/>
              <a:defRPr sz="2400">
                <a:latin typeface="Aptos"/>
              </a:defRPr>
            </a:pPr>
            <a:r>
              <a:t>UE23AM441A  -  Capstone Project Phase - 3</a:t>
            </a:r>
            <a:endParaRPr sz="2800" b="0" i="0" u="none" strike="noStrike" cap="none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spcAft>
                <a:spcPts val="800"/>
              </a:spcAft>
              <a:defRPr sz="2400">
                <a:latin typeface="Aptos"/>
              </a:defRPr>
            </a:pPr>
          </a:p>
          <a:p>
            <a:pPr>
              <a:spcAft>
                <a:spcPts val="800"/>
              </a:spcAft>
              <a:defRPr sz="2400">
                <a:latin typeface="Aptos"/>
              </a:defRPr>
            </a:pPr>
            <a:r>
              <a:t>Explainable Multi-Agent ESG Risk Analysis System</a:t>
            </a:r>
          </a:p>
          <a:p>
            <a:pPr>
              <a:spcAft>
                <a:spcPts val="800"/>
              </a:spcAft>
              <a:defRPr sz="2400">
                <a:latin typeface="Aptos"/>
              </a:defRPr>
            </a:pPr>
            <a:r>
              <a:t>Project Progress Review #1</a:t>
            </a:r>
          </a:p>
        </p:txBody>
      </p:sp>
      <p:sp>
        <p:nvSpPr>
          <p:cNvPr id="108" name="Google Shape;108;g3785cdd0013_0_0"/>
          <p:cNvSpPr txBox="1"/>
          <p:nvPr/>
        </p:nvSpPr>
        <p:spPr>
          <a:xfrm>
            <a:off x="1828800" y="4419601"/>
            <a:ext cx="8458200" cy="13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2400"/>
              <a:buFont typeface="Arial"/>
              <a:buNone/>
              <a:defRPr sz="1800">
                <a:latin typeface="Aptos"/>
              </a:defRPr>
            </a:pPr>
            <a:r>
              <a:t>Project Title : Explainable Multi-Agent ESG Risk Analysis System</a:t>
            </a:r>
            <a:endParaRPr sz="2400" b="0" i="0" u="none" strike="noStrike" cap="non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spcAft>
                <a:spcPts val="800"/>
              </a:spcAft>
              <a:defRPr sz="1800">
                <a:latin typeface="Aptos"/>
              </a:defRPr>
            </a:pPr>
            <a:r>
              <a:t>Project ID : UE23AM441A</a:t>
            </a:r>
          </a:p>
          <a:p>
            <a:pPr>
              <a:spcAft>
                <a:spcPts val="800"/>
              </a:spcAft>
              <a:defRPr sz="1800">
                <a:latin typeface="Aptos"/>
              </a:defRPr>
            </a:pPr>
            <a:r>
              <a:t>Project Guide : [Add guide name]</a:t>
            </a:r>
          </a:p>
          <a:p>
            <a:pPr>
              <a:spcAft>
                <a:spcPts val="800"/>
              </a:spcAft>
              <a:defRPr sz="1800">
                <a:latin typeface="Aptos"/>
              </a:defRPr>
            </a:pPr>
            <a:r>
              <a:t>Project Team : [Add team member names]</a:t>
            </a:r>
          </a:p>
        </p:txBody>
      </p:sp>
      <p:pic>
        <p:nvPicPr>
          <p:cNvPr id="109" name="Google Shape;109;g3785cdd0013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/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95549" y="160691"/>
            <a:ext cx="762000" cy="785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785cdd0013_0_8"/>
          <p:cNvSpPr txBox="1"/>
          <p:nvPr/>
        </p:nvSpPr>
        <p:spPr>
          <a:xfrm>
            <a:off x="1828800" y="1161650"/>
            <a:ext cx="8534400" cy="49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791" marR="0" lvl="0" indent="-215900" algn="just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2000"/>
              <a:buFont typeface="Arial"/>
              <a:buNone/>
              <a:defRPr sz="1800">
                <a:latin typeface="Aptos"/>
              </a:defRPr>
            </a:pPr>
            <a:r>
              <a:t>Abstract and scope</a:t>
            </a:r>
            <a:endParaRPr sz="2000" b="0" i="0" u="none" strike="noStrike" cap="non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spcAft>
                <a:spcPts val="800"/>
              </a:spcAft>
              <a:defRPr sz="1800">
                <a:latin typeface="Aptos"/>
              </a:defRPr>
            </a:pPr>
            <a:r>
              <a:t>Phase 2 summary and improvements</a:t>
            </a:r>
          </a:p>
          <a:p>
            <a:pPr>
              <a:spcAft>
                <a:spcPts val="800"/>
              </a:spcAft>
              <a:defRPr sz="1800">
                <a:latin typeface="Aptos"/>
              </a:defRPr>
            </a:pPr>
            <a:r>
              <a:t>Overall architecture</a:t>
            </a:r>
          </a:p>
          <a:p>
            <a:pPr>
              <a:spcAft>
                <a:spcPts val="800"/>
              </a:spcAft>
              <a:defRPr sz="1800">
                <a:latin typeface="Aptos"/>
              </a:defRPr>
            </a:pPr>
            <a:r>
              <a:t>Tasks, modules, and technologies</a:t>
            </a:r>
          </a:p>
          <a:p>
            <a:pPr>
              <a:spcAft>
                <a:spcPts val="800"/>
              </a:spcAft>
              <a:defRPr sz="1800">
                <a:latin typeface="Aptos"/>
              </a:defRPr>
            </a:pPr>
            <a:r>
              <a:t>Individual contribution</a:t>
            </a:r>
          </a:p>
          <a:p>
            <a:pPr>
              <a:spcAft>
                <a:spcPts val="800"/>
              </a:spcAft>
              <a:defRPr sz="1800">
                <a:latin typeface="Aptos"/>
              </a:defRPr>
            </a:pPr>
            <a:r>
              <a:t>Demonstration and testing</a:t>
            </a:r>
          </a:p>
          <a:p>
            <a:pPr>
              <a:spcAft>
                <a:spcPts val="800"/>
              </a:spcAft>
              <a:defRPr sz="1800">
                <a:latin typeface="Aptos"/>
              </a:defRPr>
            </a:pPr>
            <a:r>
              <a:t>Results from 50-company run</a:t>
            </a:r>
          </a:p>
          <a:p>
            <a:pPr>
              <a:spcAft>
                <a:spcPts val="800"/>
              </a:spcAft>
              <a:defRPr sz="1800">
                <a:latin typeface="Aptos"/>
              </a:defRPr>
            </a:pPr>
            <a:r>
              <a:t>References</a:t>
            </a:r>
          </a:p>
        </p:txBody>
      </p:sp>
      <p:sp>
        <p:nvSpPr>
          <p:cNvPr id="116" name="Google Shape;116;g3785cdd0013_0_8"/>
          <p:cNvSpPr txBox="1"/>
          <p:nvPr/>
        </p:nvSpPr>
        <p:spPr>
          <a:xfrm>
            <a:off x="4191000" y="699952"/>
            <a:ext cx="6477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2400"/>
              <a:buFont typeface="Arial"/>
              <a:buNone/>
              <a:defRPr sz="2400">
                <a:latin typeface="Aptos"/>
              </a:defRPr>
            </a:pPr>
            <a:r>
              <a:t>Outline</a:t>
            </a:r>
            <a:endParaRPr sz="24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17" name="Google Shape;117;g3785cdd0013_0_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g3785cdd0013_0_8"/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200"/>
              <a:buFont typeface="Arial"/>
              <a:buNone/>
              <a:defRPr sz="1000">
                <a:latin typeface="Aptos"/>
              </a:defRPr>
            </a:pPr>
            <a:r>
              <a:t>Explainable Multi-Agent ESG Risk Analysis System</a:t>
            </a:r>
            <a:endParaRPr sz="12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g3785cdd0013_0_8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ts val="1400"/>
              <a:buNone/>
              <a:defRPr sz="1000">
                <a:latin typeface="Aptos"/>
              </a:defRPr>
            </a:pPr>
            <a:r>
              <a:t>[Team names]</a:t>
            </a:r>
            <a:endParaRPr/>
          </a:p>
        </p:txBody>
      </p:sp>
      <p:pic>
        <p:nvPicPr>
          <p:cNvPr id="7" name="Picture 6"/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95549" y="160691"/>
            <a:ext cx="762000" cy="785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85cdd0013_0_18"/>
          <p:cNvSpPr txBox="1"/>
          <p:nvPr/>
        </p:nvSpPr>
        <p:spPr>
          <a:xfrm>
            <a:off x="2057400" y="2209800"/>
            <a:ext cx="8077200" cy="41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791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SzPts val="2400"/>
              <a:buFont typeface="Noto Sans Symbols"/>
              <a:buChar char="▪"/>
              <a:defRPr sz="1800">
                <a:latin typeface="Aptos"/>
              </a:defRPr>
            </a:pPr>
            <a:r>
              <a:t>Develop an explainable seven-agent ESG analysis pipeline for Indian companies.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Aft>
                <a:spcPts val="800"/>
              </a:spcAft>
              <a:defRPr sz="1800">
                <a:latin typeface="Aptos"/>
              </a:defRPr>
            </a:pPr>
          </a:p>
          <a:p>
            <a:pPr>
              <a:spcAft>
                <a:spcPts val="800"/>
              </a:spcAft>
              <a:defRPr sz="1800">
                <a:latin typeface="Aptos"/>
              </a:defRPr>
            </a:pPr>
            <a:r>
              <a:t>Scope:</a:t>
            </a:r>
          </a:p>
          <a:p>
            <a:pPr>
              <a:spcAft>
                <a:spcPts val="800"/>
              </a:spcAft>
              <a:defRPr sz="1800">
                <a:latin typeface="Aptos"/>
              </a:defRPr>
            </a:pPr>
            <a:r>
              <a:t>- Combine BRSR disclosures, AQI/location data, ESG news, and stock data.</a:t>
            </a:r>
          </a:p>
          <a:p>
            <a:pPr>
              <a:spcAft>
                <a:spcPts val="800"/>
              </a:spcAft>
              <a:defRPr sz="1800">
                <a:latin typeface="Aptos"/>
              </a:defRPr>
            </a:pPr>
            <a:r>
              <a:t>- Produce company-level ESG scores, quality gates, contradiction checks, and explanations.</a:t>
            </a:r>
          </a:p>
          <a:p>
            <a:pPr>
              <a:spcAft>
                <a:spcPts val="800"/>
              </a:spcAft>
              <a:defRPr sz="1800">
                <a:latin typeface="Aptos"/>
              </a:defRPr>
            </a:pPr>
            <a:r>
              <a:t>- Evaluate a configured cohort of 50 companies for FY 2024-25 where comparable data is available.</a:t>
            </a:r>
          </a:p>
        </p:txBody>
      </p:sp>
      <p:sp>
        <p:nvSpPr>
          <p:cNvPr id="126" name="Google Shape;126;g3785cdd0013_0_18"/>
          <p:cNvSpPr txBox="1"/>
          <p:nvPr/>
        </p:nvSpPr>
        <p:spPr>
          <a:xfrm>
            <a:off x="4191000" y="1025102"/>
            <a:ext cx="6477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2400"/>
              <a:buFont typeface="Arial"/>
              <a:buNone/>
              <a:defRPr sz="2400">
                <a:latin typeface="Aptos"/>
              </a:defRPr>
            </a:pPr>
            <a:r>
              <a:t>Abstract and Scope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" name="Google Shape;127;g3785cdd0013_0_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3785cdd0013_0_18"/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200"/>
              <a:buFont typeface="Arial"/>
              <a:buNone/>
              <a:defRPr sz="1000">
                <a:latin typeface="Aptos"/>
              </a:defRPr>
            </a:pPr>
            <a:r>
              <a:t>Explainable Multi-Agent ESG Risk Analysis System</a:t>
            </a:r>
            <a:endParaRPr sz="12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g3785cdd0013_0_18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ts val="1400"/>
              <a:buNone/>
              <a:defRPr sz="1000">
                <a:latin typeface="Aptos"/>
              </a:defRPr>
            </a:pPr>
            <a:r>
              <a:t>[Team names]</a:t>
            </a:r>
            <a:endParaRPr/>
          </a:p>
        </p:txBody>
      </p:sp>
      <p:pic>
        <p:nvPicPr>
          <p:cNvPr id="7" name="Picture 6"/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95549" y="160691"/>
            <a:ext cx="762000" cy="785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785cdd0013_0_28"/>
          <p:cNvSpPr txBox="1"/>
          <p:nvPr/>
        </p:nvSpPr>
        <p:spPr>
          <a:xfrm>
            <a:off x="2057400" y="2188868"/>
            <a:ext cx="9067800" cy="42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791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SzPts val="2400"/>
              <a:buFont typeface="Noto Sans Symbols"/>
              <a:buChar char="▪"/>
              <a:defRPr sz="1800">
                <a:latin typeface="Aptos"/>
              </a:defRPr>
            </a:pPr>
            <a:r>
              <a:t>Phase 2 established the V1 seven-agent ESG workflow for a five-company dataset.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Aft>
                <a:spcPts val="800"/>
              </a:spcAft>
              <a:defRPr sz="1800">
                <a:latin typeface="Aptos"/>
              </a:defRPr>
            </a:pPr>
          </a:p>
          <a:p>
            <a:pPr>
              <a:spcAft>
                <a:spcPts val="800"/>
              </a:spcAft>
              <a:defRPr sz="1800">
                <a:latin typeface="Aptos"/>
              </a:defRPr>
            </a:pPr>
            <a:r>
              <a:t>Phase 3 improvements:</a:t>
            </a:r>
          </a:p>
          <a:p>
            <a:pPr>
              <a:spcAft>
                <a:spcPts val="800"/>
              </a:spcAft>
              <a:defRPr sz="1800">
                <a:latin typeface="Aptos"/>
              </a:defRPr>
            </a:pPr>
            <a:r>
              <a:t>- Expanded the configured cohort from 5 to 50 companies.</a:t>
            </a:r>
          </a:p>
          <a:p>
            <a:pPr>
              <a:spcAft>
                <a:spcPts val="800"/>
              </a:spcAft>
              <a:defRPr sz="1800">
                <a:latin typeface="Aptos"/>
              </a:defRPr>
            </a:pPr>
            <a:r>
              <a:t>- Added validated BRSR ingestion and FY-aware source selection.</a:t>
            </a:r>
          </a:p>
          <a:p>
            <a:pPr>
              <a:spcAft>
                <a:spcPts val="800"/>
              </a:spcAft>
              <a:defRPr sz="1800">
                <a:latin typeface="Aptos"/>
              </a:defRPr>
            </a:pPr>
            <a:r>
              <a:t>- Added environmental risk, news sentiment, stock correlation, greenwashing checks, and quality gates.</a:t>
            </a:r>
          </a:p>
          <a:p>
            <a:pPr>
              <a:spcAft>
                <a:spcPts val="800"/>
              </a:spcAft>
              <a:defRPr sz="1800">
                <a:latin typeface="Aptos"/>
              </a:defRPr>
            </a:pPr>
            <a:r>
              <a:t>- Added output lineage, review flags, and an interactive web dashboard.</a:t>
            </a:r>
          </a:p>
        </p:txBody>
      </p:sp>
      <p:sp>
        <p:nvSpPr>
          <p:cNvPr id="136" name="Google Shape;136;g3785cdd0013_0_28"/>
          <p:cNvSpPr txBox="1"/>
          <p:nvPr/>
        </p:nvSpPr>
        <p:spPr>
          <a:xfrm>
            <a:off x="2895600" y="990600"/>
            <a:ext cx="7848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2400"/>
              <a:buFont typeface="Arial"/>
              <a:buNone/>
              <a:defRPr sz="2400">
                <a:latin typeface="Aptos"/>
              </a:defRPr>
            </a:pPr>
            <a:r>
              <a:t>Summary of Work Done in Capstone Project Phase - 2</a:t>
            </a:r>
            <a:endParaRPr sz="24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37" name="Google Shape;137;g3785cdd0013_0_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g3785cdd0013_0_28"/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200"/>
              <a:buFont typeface="Arial"/>
              <a:buNone/>
              <a:defRPr sz="1000">
                <a:latin typeface="Aptos"/>
              </a:defRPr>
            </a:pPr>
            <a:r>
              <a:t>Explainable Multi-Agent ESG Risk Analysis System</a:t>
            </a:r>
            <a:endParaRPr sz="12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g3785cdd0013_0_28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ts val="1400"/>
              <a:buNone/>
              <a:defRPr sz="1000">
                <a:latin typeface="Aptos"/>
              </a:defRPr>
            </a:pPr>
            <a:r>
              <a:t>[Team names]</a:t>
            </a:r>
            <a:endParaRPr/>
          </a:p>
        </p:txBody>
      </p:sp>
      <p:pic>
        <p:nvPicPr>
          <p:cNvPr id="7" name="Picture 6"/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95549" y="160691"/>
            <a:ext cx="762000" cy="785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785cdd0013_0_38"/>
          <p:cNvSpPr txBox="1"/>
          <p:nvPr/>
        </p:nvSpPr>
        <p:spPr>
          <a:xfrm>
            <a:off x="2773600" y="812200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2400"/>
              <a:buFont typeface="Arial"/>
              <a:buNone/>
              <a:defRPr sz="1600">
                <a:latin typeface="Aptos"/>
              </a:defRPr>
            </a:pPr>
            <a:r>
              <a:t>Input data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Aft>
                <a:spcPts val="800"/>
              </a:spcAft>
              <a:defRPr sz="1600">
                <a:latin typeface="Aptos"/>
              </a:defRPr>
            </a:pPr>
            <a:r>
              <a:t>  BRSR PDFs | AQI and location data | ESG news | Stock prices</a:t>
            </a:r>
          </a:p>
          <a:p>
            <a:pPr>
              <a:spcAft>
                <a:spcPts val="800"/>
              </a:spcAft>
              <a:defRPr sz="1600">
                <a:latin typeface="Aptos"/>
              </a:defRPr>
            </a:pPr>
            <a:r>
              <a:t>                         |</a:t>
            </a:r>
          </a:p>
          <a:p>
            <a:pPr>
              <a:spcAft>
                <a:spcPts val="800"/>
              </a:spcAft>
              <a:defRPr sz="1600">
                <a:latin typeface="Aptos"/>
              </a:defRPr>
            </a:pPr>
            <a:r>
              <a:t>Seven-agent pipeline</a:t>
            </a:r>
          </a:p>
          <a:p>
            <a:pPr>
              <a:spcAft>
                <a:spcPts val="800"/>
              </a:spcAft>
              <a:defRPr sz="1600">
                <a:latin typeface="Aptos"/>
              </a:defRPr>
            </a:pPr>
            <a:r>
              <a:t>  Extractor -&gt; Environmental risk -&gt; News sentiment -&gt; Stock correlation</a:t>
            </a:r>
          </a:p>
          <a:p>
            <a:pPr>
              <a:spcAft>
                <a:spcPts val="800"/>
              </a:spcAft>
              <a:defRPr sz="1600">
                <a:latin typeface="Aptos"/>
              </a:defRPr>
            </a:pPr>
            <a:r>
              <a:t>  -&gt; Greenwashing detector -&gt; Master scorer -&gt; Explainable AI</a:t>
            </a:r>
          </a:p>
          <a:p>
            <a:pPr>
              <a:spcAft>
                <a:spcPts val="800"/>
              </a:spcAft>
              <a:defRPr sz="1600">
                <a:latin typeface="Aptos"/>
              </a:defRPr>
            </a:pPr>
            <a:r>
              <a:t>                         |</a:t>
            </a:r>
          </a:p>
          <a:p>
            <a:pPr>
              <a:spcAft>
                <a:spcPts val="800"/>
              </a:spcAft>
              <a:defRPr sz="1600">
                <a:latin typeface="Aptos"/>
              </a:defRPr>
            </a:pPr>
            <a:r>
              <a:t>Validated CSV outputs + web dashboard + review flags</a:t>
            </a:r>
          </a:p>
        </p:txBody>
      </p:sp>
      <p:sp>
        <p:nvSpPr>
          <p:cNvPr id="145" name="Google Shape;145;g3785cdd0013_0_38"/>
          <p:cNvSpPr txBox="1"/>
          <p:nvPr/>
        </p:nvSpPr>
        <p:spPr>
          <a:xfrm>
            <a:off x="1562100" y="2905646"/>
            <a:ext cx="90678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SzPts val="2400"/>
              <a:buFont typeface="Calibri"/>
              <a:buAutoNum type="arabicPeriod"/>
              <a:defRPr sz="2400">
                <a:latin typeface="Aptos"/>
              </a:defRPr>
            </a:pPr>
            <a:r>
              <a:t>Architecture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g3785cdd0013_0_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g3785cdd0013_0_38"/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200"/>
              <a:buFont typeface="Arial"/>
              <a:buNone/>
              <a:defRPr sz="1000">
                <a:latin typeface="Aptos"/>
              </a:defRPr>
            </a:pPr>
            <a:r>
              <a:t>Explainable Multi-Agent ESG Risk Analysis System</a:t>
            </a:r>
            <a:endParaRPr sz="12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3785cdd0013_0_38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ts val="1400"/>
              <a:buNone/>
              <a:defRPr sz="1000">
                <a:latin typeface="Aptos"/>
              </a:defRPr>
            </a:pPr>
            <a:r>
              <a:t>[Team names]</a:t>
            </a:r>
            <a:endParaRPr/>
          </a:p>
        </p:txBody>
      </p:sp>
      <p:pic>
        <p:nvPicPr>
          <p:cNvPr id="7" name="Picture 6"/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95549" y="160691"/>
            <a:ext cx="762000" cy="785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785cdd0013_0_47"/>
          <p:cNvSpPr txBox="1"/>
          <p:nvPr/>
        </p:nvSpPr>
        <p:spPr>
          <a:xfrm>
            <a:off x="3048000" y="780763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2400"/>
              <a:buFont typeface="Arial"/>
              <a:buNone/>
              <a:defRPr sz="1800">
                <a:latin typeface="Aptos"/>
              </a:defRPr>
            </a:pPr>
            <a:r>
              <a:t>1. BRSR extraction and validation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Aft>
                <a:spcPts val="800"/>
              </a:spcAft>
              <a:defRPr sz="1800">
                <a:latin typeface="Aptos"/>
              </a:defRPr>
            </a:pPr>
            <a:r>
              <a:t>2. Environmental and location risk analysis</a:t>
            </a:r>
          </a:p>
          <a:p>
            <a:pPr>
              <a:spcAft>
                <a:spcPts val="800"/>
              </a:spcAft>
              <a:defRPr sz="1800">
                <a:latin typeface="Aptos"/>
              </a:defRPr>
            </a:pPr>
            <a:r>
              <a:t>3. ESG news filtering and sentiment classification</a:t>
            </a:r>
          </a:p>
          <a:p>
            <a:pPr>
              <a:spcAft>
                <a:spcPts val="800"/>
              </a:spcAft>
              <a:defRPr sz="1800">
                <a:latin typeface="Aptos"/>
              </a:defRPr>
            </a:pPr>
            <a:r>
              <a:t>4. Stock performance and ESG correlation</a:t>
            </a:r>
          </a:p>
          <a:p>
            <a:pPr>
              <a:spcAft>
                <a:spcPts val="800"/>
              </a:spcAft>
              <a:defRPr sz="1800">
                <a:latin typeface="Aptos"/>
              </a:defRPr>
            </a:pPr>
            <a:r>
              <a:t>5. Greenwashing and contradiction detection</a:t>
            </a:r>
          </a:p>
          <a:p>
            <a:pPr>
              <a:spcAft>
                <a:spcPts val="800"/>
              </a:spcAft>
              <a:defRPr sz="1800">
                <a:latin typeface="Aptos"/>
              </a:defRPr>
            </a:pPr>
            <a:r>
              <a:t>6. Master ESG scoring and quality gating</a:t>
            </a:r>
          </a:p>
          <a:p>
            <a:pPr>
              <a:spcAft>
                <a:spcPts val="800"/>
              </a:spcAft>
              <a:defRPr sz="1800">
                <a:latin typeface="Aptos"/>
              </a:defRPr>
            </a:pPr>
            <a:r>
              <a:t>7. Explainable AI report generation</a:t>
            </a:r>
          </a:p>
          <a:p>
            <a:pPr>
              <a:spcAft>
                <a:spcPts val="800"/>
              </a:spcAft>
              <a:defRPr sz="1800">
                <a:latin typeface="Aptos"/>
              </a:defRPr>
            </a:pPr>
          </a:p>
          <a:p>
            <a:pPr>
              <a:spcAft>
                <a:spcPts val="800"/>
              </a:spcAft>
              <a:defRPr sz="1800">
                <a:latin typeface="Aptos"/>
              </a:defRPr>
            </a:pPr>
            <a:r>
              <a:t>Technologies: Python, Pandas, FastAPI, HTML/CSS/JavaScript, CSV/JSON, BRSR PDFs, AQI and market datasets.</a:t>
            </a:r>
          </a:p>
        </p:txBody>
      </p:sp>
      <p:sp>
        <p:nvSpPr>
          <p:cNvPr id="154" name="Google Shape;154;g3785cdd0013_0_47"/>
          <p:cNvSpPr txBox="1"/>
          <p:nvPr/>
        </p:nvSpPr>
        <p:spPr>
          <a:xfrm>
            <a:off x="1563675" y="1242475"/>
            <a:ext cx="9582300" cy="48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SzPts val="2400"/>
              <a:buFont typeface="Calibri"/>
              <a:buAutoNum type="arabicPeriod"/>
              <a:defRPr sz="2400">
                <a:latin typeface="Aptos"/>
              </a:defRPr>
            </a:pPr>
            <a:r>
              <a:t>List of Tasks/Modules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" name="Google Shape;155;g3785cdd0013_0_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g3785cdd0013_0_47"/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200"/>
              <a:buFont typeface="Arial"/>
              <a:buNone/>
              <a:defRPr sz="1000">
                <a:latin typeface="Aptos"/>
              </a:defRPr>
            </a:pPr>
            <a:r>
              <a:t>Explainable Multi-Agent ESG Risk Analysis System</a:t>
            </a:r>
            <a:endParaRPr sz="12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3785cdd0013_0_47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ts val="1400"/>
              <a:buNone/>
              <a:defRPr sz="1000">
                <a:latin typeface="Aptos"/>
              </a:defRPr>
            </a:pPr>
            <a:r>
              <a:t>[Team names]</a:t>
            </a:r>
            <a:endParaRPr/>
          </a:p>
        </p:txBody>
      </p:sp>
      <p:pic>
        <p:nvPicPr>
          <p:cNvPr id="7" name="Picture 6"/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95549" y="160691"/>
            <a:ext cx="762000" cy="785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785cdd0013_0_56"/>
          <p:cNvSpPr txBox="1"/>
          <p:nvPr/>
        </p:nvSpPr>
        <p:spPr>
          <a:xfrm>
            <a:off x="3351475" y="984602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2400"/>
              <a:buFont typeface="Arial"/>
              <a:buNone/>
              <a:defRPr sz="1600">
                <a:latin typeface="Aptos"/>
              </a:defRPr>
            </a:pPr>
            <a:r>
              <a:t>Contribution can be assigned and signed off by the team: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Aft>
                <a:spcPts val="800"/>
              </a:spcAft>
              <a:defRPr sz="1600">
                <a:latin typeface="Aptos"/>
              </a:defRPr>
            </a:pPr>
          </a:p>
          <a:p>
            <a:pPr>
              <a:spcAft>
                <a:spcPts val="800"/>
              </a:spcAft>
              <a:defRPr sz="1600">
                <a:latin typeface="Aptos"/>
              </a:defRPr>
            </a:pPr>
            <a:r>
              <a:t>Agent 1: BRSR extraction and validation</a:t>
            </a:r>
          </a:p>
          <a:p>
            <a:pPr>
              <a:spcAft>
                <a:spcPts val="800"/>
              </a:spcAft>
              <a:defRPr sz="1600">
                <a:latin typeface="Aptos"/>
              </a:defRPr>
            </a:pPr>
            <a:r>
              <a:t>Agent 2: Environmental risk features</a:t>
            </a:r>
          </a:p>
          <a:p>
            <a:pPr>
              <a:spcAft>
                <a:spcPts val="800"/>
              </a:spcAft>
              <a:defRPr sz="1600">
                <a:latin typeface="Aptos"/>
              </a:defRPr>
            </a:pPr>
            <a:r>
              <a:t>Agent 3: News sentiment pipeline</a:t>
            </a:r>
          </a:p>
          <a:p>
            <a:pPr>
              <a:spcAft>
                <a:spcPts val="800"/>
              </a:spcAft>
              <a:defRPr sz="1600">
                <a:latin typeface="Aptos"/>
              </a:defRPr>
            </a:pPr>
            <a:r>
              <a:t>Agent 4: Stock correlation analysis</a:t>
            </a:r>
          </a:p>
          <a:p>
            <a:pPr>
              <a:spcAft>
                <a:spcPts val="800"/>
              </a:spcAft>
              <a:defRPr sz="1600">
                <a:latin typeface="Aptos"/>
              </a:defRPr>
            </a:pPr>
            <a:r>
              <a:t>Agent 5: Greenwashing detection</a:t>
            </a:r>
          </a:p>
          <a:p>
            <a:pPr>
              <a:spcAft>
                <a:spcPts val="800"/>
              </a:spcAft>
              <a:defRPr sz="1600">
                <a:latin typeface="Aptos"/>
              </a:defRPr>
            </a:pPr>
            <a:r>
              <a:t>Agent 6: Master scoring and quality gate</a:t>
            </a:r>
          </a:p>
          <a:p>
            <a:pPr>
              <a:spcAft>
                <a:spcPts val="800"/>
              </a:spcAft>
              <a:defRPr sz="1600">
                <a:latin typeface="Aptos"/>
              </a:defRPr>
            </a:pPr>
            <a:r>
              <a:t>Agent 7: Explanations, reporting, and dashboard integration</a:t>
            </a:r>
          </a:p>
          <a:p>
            <a:pPr>
              <a:spcAft>
                <a:spcPts val="800"/>
              </a:spcAft>
              <a:defRPr sz="1600">
                <a:latin typeface="Aptos"/>
              </a:defRPr>
            </a:pPr>
          </a:p>
          <a:p>
            <a:pPr>
              <a:spcAft>
                <a:spcPts val="800"/>
              </a:spcAft>
              <a:defRPr sz="1600">
                <a:latin typeface="Aptos"/>
              </a:defRPr>
            </a:pPr>
            <a:r>
              <a:t>Add member names, lines of code, and hours before submission.</a:t>
            </a:r>
          </a:p>
        </p:txBody>
      </p:sp>
      <p:sp>
        <p:nvSpPr>
          <p:cNvPr id="163" name="Google Shape;163;g3785cdd0013_0_56"/>
          <p:cNvSpPr txBox="1"/>
          <p:nvPr/>
        </p:nvSpPr>
        <p:spPr>
          <a:xfrm>
            <a:off x="1828800" y="1752600"/>
            <a:ext cx="9067800" cy="34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2400"/>
              <a:buFont typeface="Arial"/>
              <a:buNone/>
              <a:defRPr sz="2400">
                <a:latin typeface="Aptos"/>
              </a:defRPr>
            </a:pPr>
            <a:r>
              <a:t>Individual Contribution</a:t>
            </a:r>
            <a:endParaRPr sz="1400" b="0" i="0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4" name="Google Shape;164;g3785cdd0013_0_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g3785cdd0013_0_56"/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200"/>
              <a:buFont typeface="Arial"/>
              <a:buNone/>
              <a:defRPr sz="1000">
                <a:latin typeface="Aptos"/>
              </a:defRPr>
            </a:pPr>
            <a:r>
              <a:t>Explainable Multi-Agent ESG Risk Analysis System</a:t>
            </a:r>
            <a:endParaRPr sz="12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785cdd0013_0_56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ts val="1400"/>
              <a:buNone/>
              <a:defRPr sz="1000">
                <a:latin typeface="Aptos"/>
              </a:defRPr>
            </a:pPr>
            <a:r>
              <a:t>[Team names]</a:t>
            </a:r>
            <a:endParaRPr/>
          </a:p>
        </p:txBody>
      </p:sp>
      <p:pic>
        <p:nvPicPr>
          <p:cNvPr id="7" name="Picture 6"/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95549" y="160691"/>
            <a:ext cx="762000" cy="785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785cdd0013_0_65"/>
          <p:cNvSpPr txBox="1"/>
          <p:nvPr/>
        </p:nvSpPr>
        <p:spPr>
          <a:xfrm>
            <a:off x="2971800" y="984602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2400"/>
              <a:buFont typeface="Arial"/>
              <a:buNone/>
              <a:defRPr sz="1600">
                <a:latin typeface="Aptos"/>
              </a:defRPr>
            </a:pPr>
            <a:r>
              <a:t>Demonstrated outputs from the Phase 3 run: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Aft>
                <a:spcPts val="800"/>
              </a:spcAft>
              <a:defRPr sz="1600">
                <a:latin typeface="Aptos"/>
              </a:defRPr>
            </a:pPr>
            <a:r>
              <a:t>- 50 company score records and 900 BRSR metric records</a:t>
            </a:r>
          </a:p>
          <a:p>
            <a:pPr>
              <a:spcAft>
                <a:spcPts val="800"/>
              </a:spcAft>
              <a:defRPr sz="1600">
                <a:latin typeface="Aptos"/>
              </a:defRPr>
            </a:pPr>
            <a:r>
              <a:t>- Average master ESG score: 6.17/10 for scored records</a:t>
            </a:r>
          </a:p>
          <a:p>
            <a:pPr>
              <a:spcAft>
                <a:spcPts val="800"/>
              </a:spcAft>
              <a:defRPr sz="1600">
                <a:latin typeface="Aptos"/>
              </a:defRPr>
            </a:pPr>
            <a:r>
              <a:t>- 677 ESG news sentiment records and 91 stock records</a:t>
            </a:r>
          </a:p>
          <a:p>
            <a:pPr>
              <a:spcAft>
                <a:spcPts val="800"/>
              </a:spcAft>
              <a:defRPr sz="1600">
                <a:latin typeface="Aptos"/>
              </a:defRPr>
            </a:pPr>
            <a:r>
              <a:t>- 83 environmental/location risk records</a:t>
            </a:r>
          </a:p>
          <a:p>
            <a:pPr>
              <a:spcAft>
                <a:spcPts val="800"/>
              </a:spcAft>
              <a:defRPr sz="1600">
                <a:latin typeface="Aptos"/>
              </a:defRPr>
            </a:pPr>
            <a:r>
              <a:t>- 4 companies passed the quality gate; 46 received low-quality warnings</a:t>
            </a:r>
          </a:p>
          <a:p>
            <a:pPr>
              <a:spcAft>
                <a:spcPts val="800"/>
              </a:spcAft>
              <a:defRPr sz="1600">
                <a:latin typeface="Aptos"/>
              </a:defRPr>
            </a:pPr>
            <a:r>
              <a:t>- Average BRSR completeness: 40.22%</a:t>
            </a:r>
          </a:p>
          <a:p>
            <a:pPr>
              <a:spcAft>
                <a:spcPts val="800"/>
              </a:spcAft>
              <a:defRPr sz="1600">
                <a:latin typeface="Aptos"/>
              </a:defRPr>
            </a:pPr>
            <a:r>
              <a:t>- Cross-validation flagged 2 high- and 6 medium-severity contradictions</a:t>
            </a:r>
          </a:p>
          <a:p>
            <a:pPr>
              <a:spcAft>
                <a:spcPts val="800"/>
              </a:spcAft>
              <a:defRPr sz="1600">
                <a:latin typeface="Aptos"/>
              </a:defRPr>
            </a:pPr>
          </a:p>
          <a:p>
            <a:pPr>
              <a:spcAft>
                <a:spcPts val="800"/>
              </a:spcAft>
              <a:defRPr sz="1600">
                <a:latin typeface="Aptos"/>
              </a:defRPr>
            </a:pPr>
            <a:r>
              <a:t>Testing: configuration count, PDF validation, data-quality reports, cross-validation, and API/dashboard checks.</a:t>
            </a:r>
          </a:p>
        </p:txBody>
      </p:sp>
      <p:sp>
        <p:nvSpPr>
          <p:cNvPr id="172" name="Google Shape;172;g3785cdd0013_0_65"/>
          <p:cNvSpPr txBox="1"/>
          <p:nvPr/>
        </p:nvSpPr>
        <p:spPr>
          <a:xfrm>
            <a:off x="1828800" y="1752600"/>
            <a:ext cx="9067800" cy="19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2400"/>
              <a:buFont typeface="Arial"/>
              <a:buNone/>
              <a:defRPr sz="2400">
                <a:latin typeface="Aptos"/>
              </a:defRPr>
            </a:pPr>
            <a:r>
              <a:t>Demonstration, Testing, and Results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3" name="Google Shape;173;g3785cdd0013_0_6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g3785cdd0013_0_65"/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200"/>
              <a:buFont typeface="Arial"/>
              <a:buNone/>
              <a:defRPr sz="1000">
                <a:latin typeface="Aptos"/>
              </a:defRPr>
            </a:pPr>
            <a:r>
              <a:t>Explainable Multi-Agent ESG Risk Analysis System</a:t>
            </a:r>
            <a:endParaRPr sz="12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g3785cdd0013_0_65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ts val="1400"/>
              <a:buNone/>
              <a:defRPr sz="1000">
                <a:latin typeface="Aptos"/>
              </a:defRPr>
            </a:pPr>
            <a:r>
              <a:t>[Team names]</a:t>
            </a:r>
            <a:endParaRPr/>
          </a:p>
        </p:txBody>
      </p:sp>
      <p:pic>
        <p:nvPicPr>
          <p:cNvPr id="7" name="Picture 6"/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95549" y="160691"/>
            <a:ext cx="762000" cy="785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785cdd0013_0_74"/>
          <p:cNvSpPr txBox="1"/>
          <p:nvPr/>
        </p:nvSpPr>
        <p:spPr>
          <a:xfrm>
            <a:off x="2971800" y="1025102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2400"/>
              <a:buFont typeface="Arial"/>
              <a:buNone/>
              <a:defRPr sz="1600">
                <a:latin typeface="Aptos"/>
              </a:defRPr>
            </a:pPr>
            <a:r>
              <a:t>[1] Securities and Exchange Board of India, Business Responsibility and Sustainability Reporting (BRSR) framework.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Aft>
                <a:spcPts val="800"/>
              </a:spcAft>
              <a:defRPr sz="1600">
                <a:latin typeface="Aptos"/>
              </a:defRPr>
            </a:pPr>
          </a:p>
          <a:p>
            <a:pPr>
              <a:spcAft>
                <a:spcPts val="800"/>
              </a:spcAft>
              <a:defRPr sz="1600">
                <a:latin typeface="Aptos"/>
              </a:defRPr>
            </a:pPr>
            <a:r>
              <a:t>[2] Project datasets: BRSR reports, Air Quality Data in India (2015-2024), Real-Time AQI India, ESG News Dataset, and Sensex/Nifty historical data.</a:t>
            </a:r>
          </a:p>
          <a:p>
            <a:pPr>
              <a:spcAft>
                <a:spcPts val="800"/>
              </a:spcAft>
              <a:defRPr sz="1600">
                <a:latin typeface="Aptos"/>
              </a:defRPr>
            </a:pPr>
          </a:p>
          <a:p>
            <a:pPr>
              <a:spcAft>
                <a:spcPts val="800"/>
              </a:spcAft>
              <a:defRPr sz="1600">
                <a:latin typeface="Aptos"/>
              </a:defRPr>
            </a:pPr>
            <a:r>
              <a:t>[3] Python Software Foundation, Python documentation.</a:t>
            </a:r>
          </a:p>
          <a:p>
            <a:pPr>
              <a:spcAft>
                <a:spcPts val="800"/>
              </a:spcAft>
              <a:defRPr sz="1600">
                <a:latin typeface="Aptos"/>
              </a:defRPr>
            </a:pPr>
          </a:p>
          <a:p>
            <a:pPr>
              <a:spcAft>
                <a:spcPts val="800"/>
              </a:spcAft>
              <a:defRPr sz="1600">
                <a:latin typeface="Aptos"/>
              </a:defRPr>
            </a:pPr>
            <a:r>
              <a:t>[4] FastAPI, Pandas, and scikit-learn documentation.</a:t>
            </a:r>
          </a:p>
          <a:p>
            <a:pPr>
              <a:spcAft>
                <a:spcPts val="800"/>
              </a:spcAft>
              <a:defRPr sz="1600">
                <a:latin typeface="Aptos"/>
              </a:defRPr>
            </a:pPr>
          </a:p>
          <a:p>
            <a:pPr>
              <a:spcAft>
                <a:spcPts val="800"/>
              </a:spcAft>
              <a:defRPr sz="1600">
                <a:latin typeface="Aptos"/>
              </a:defRPr>
            </a:pPr>
            <a:r>
              <a:t>[5] Project implementation and validation reports, Phase 3, 2026.</a:t>
            </a:r>
          </a:p>
        </p:txBody>
      </p:sp>
      <p:sp>
        <p:nvSpPr>
          <p:cNvPr id="181" name="Google Shape;181;g3785cdd0013_0_74"/>
          <p:cNvSpPr txBox="1"/>
          <p:nvPr/>
        </p:nvSpPr>
        <p:spPr>
          <a:xfrm>
            <a:off x="2133601" y="1905001"/>
            <a:ext cx="8839200" cy="4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12700" algn="just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2400"/>
              <a:buFont typeface="Arial"/>
              <a:buNone/>
              <a:defRPr sz="2400">
                <a:latin typeface="Aptos"/>
              </a:defRPr>
            </a:pPr>
            <a:r>
              <a:t>References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2" name="Google Shape;182;g3785cdd0013_0_7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g3785cdd0013_0_74"/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200"/>
              <a:buFont typeface="Arial"/>
              <a:buNone/>
              <a:defRPr sz="1000">
                <a:latin typeface="Aptos"/>
              </a:defRPr>
            </a:pPr>
            <a:r>
              <a:t>Explainable Multi-Agent ESG Risk Analysis System</a:t>
            </a:r>
            <a:endParaRPr sz="12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g3785cdd0013_0_74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ts val="1400"/>
              <a:buNone/>
              <a:defRPr sz="1000">
                <a:latin typeface="Aptos"/>
              </a:defRPr>
            </a:pPr>
            <a:r>
              <a:t>[Team names]</a:t>
            </a:r>
            <a:endParaRPr/>
          </a:p>
        </p:txBody>
      </p:sp>
      <p:pic>
        <p:nvPicPr>
          <p:cNvPr id="7" name="Picture 6"/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95549" y="160691"/>
            <a:ext cx="762000" cy="785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785cdd0013_0_83"/>
          <p:cNvSpPr/>
          <p:nvPr/>
        </p:nvSpPr>
        <p:spPr>
          <a:xfrm>
            <a:off x="3531752" y="2856542"/>
            <a:ext cx="4532595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800" b="1" i="0" u="none" strike="noStrike" cap="none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Thank You</a:t>
            </a:r>
            <a:endParaRPr sz="1800" b="1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336</Words>
  <Application>Microsoft Office PowerPoint</Application>
  <PresentationFormat>Custom</PresentationFormat>
  <Paragraphs>87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Retrospect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pesu</cp:lastModifiedBy>
  <cp:revision>6</cp:revision>
  <dcterms:created xsi:type="dcterms:W3CDTF">2023-02-02T07:40:50Z</dcterms:created>
  <dcterms:modified xsi:type="dcterms:W3CDTF">2026-08-27T05:57:02Z</dcterms:modified>
</cp:coreProperties>
</file>